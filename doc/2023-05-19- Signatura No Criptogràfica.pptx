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3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8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9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AEEBD-9880-44B7-B81D-3C15A3ECC357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1D46-3665-4BDF-9F1D-5E090EF9A528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95117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61D46-3665-4BDF-9F1D-5E090EF9A528}" type="slidenum">
              <a:rPr lang="ca-ES" smtClean="0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11069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61D46-3665-4BDF-9F1D-5E090EF9A528}" type="slidenum">
              <a:rPr lang="ca-ES" smtClean="0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3197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61D46-3665-4BDF-9F1D-5E090EF9A528}" type="slidenum">
              <a:rPr lang="ca-ES" smtClean="0"/>
              <a:t>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03115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61D46-3665-4BDF-9F1D-5E090EF9A528}" type="slidenum">
              <a:rPr lang="ca-ES" smtClean="0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7364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61D46-3665-4BDF-9F1D-5E090EF9A528}" type="slidenum">
              <a:rPr lang="ca-ES" smtClean="0"/>
              <a:t>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2002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000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4720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3736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6954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0392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8284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2675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9954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0500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3517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2879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51158-D391-46AD-96CD-781B566EEBEC}" type="datetimeFigureOut">
              <a:rPr lang="ca-ES" smtClean="0"/>
              <a:t>19/5/2023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445C4-4C50-4864-B790-D0CB8417543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6479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l@v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38" y="243212"/>
            <a:ext cx="2442506" cy="1893085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78959" y="2446977"/>
            <a:ext cx="111402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sz="2800" b="1" dirty="0">
                <a:latin typeface="Noto Sans" panose="020B0502040504020204" pitchFamily="34"/>
                <a:ea typeface="Calibri" panose="020F0502020204030204" pitchFamily="34" charset="0"/>
              </a:rPr>
              <a:t>SERVEI DE L’OFICINA TÈCNICA D'ADMINISTRACIÓ </a:t>
            </a:r>
            <a:r>
              <a:rPr lang="ca-ES" sz="2800" b="1" dirty="0" smtClean="0">
                <a:latin typeface="Noto Sans" panose="020B0502040504020204" pitchFamily="34"/>
                <a:ea typeface="Calibri" panose="020F0502020204030204" pitchFamily="34" charset="0"/>
              </a:rPr>
              <a:t>ELECTRÒNICA </a:t>
            </a:r>
            <a:r>
              <a:rPr lang="ca-ES" sz="2800" b="1" dirty="0">
                <a:latin typeface="Noto Sans" panose="020B0502040504020204" pitchFamily="34"/>
                <a:ea typeface="Calibri" panose="020F0502020204030204" pitchFamily="34" charset="0"/>
              </a:rPr>
              <a:t>(OTAE</a:t>
            </a:r>
            <a:r>
              <a:rPr lang="ca-ES" sz="2800" b="1" dirty="0" smtClean="0">
                <a:latin typeface="Noto Sans" panose="020B0502040504020204" pitchFamily="34"/>
                <a:ea typeface="Calibri" panose="020F0502020204030204" pitchFamily="34" charset="0"/>
              </a:rPr>
              <a:t>) </a:t>
            </a:r>
          </a:p>
        </p:txBody>
      </p:sp>
      <p:cxnSp>
        <p:nvCxnSpPr>
          <p:cNvPr id="27" name="Conector recto 26"/>
          <p:cNvCxnSpPr/>
          <p:nvPr/>
        </p:nvCxnSpPr>
        <p:spPr>
          <a:xfrm flipH="1">
            <a:off x="11446404" y="6125368"/>
            <a:ext cx="745596" cy="732632"/>
          </a:xfrm>
          <a:prstGeom prst="line">
            <a:avLst/>
          </a:prstGeom>
          <a:ln w="25400">
            <a:solidFill>
              <a:srgbClr val="D803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/>
          <p:cNvSpPr/>
          <p:nvPr/>
        </p:nvSpPr>
        <p:spPr>
          <a:xfrm>
            <a:off x="678959" y="3516730"/>
            <a:ext cx="14073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err="1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Generació</a:t>
            </a:r>
            <a:r>
              <a:rPr lang="es-ES" sz="2400" b="1" dirty="0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 del </a:t>
            </a:r>
            <a:r>
              <a:rPr lang="es-ES" sz="2400" b="1" dirty="0" err="1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justificant</a:t>
            </a:r>
            <a:r>
              <a:rPr lang="es-ES" sz="2400" b="1" dirty="0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 al Sistema </a:t>
            </a:r>
            <a:r>
              <a:rPr lang="es-ES" sz="2400" b="1" dirty="0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de Signatura No </a:t>
            </a:r>
            <a:r>
              <a:rPr lang="es-ES" sz="2400" b="1" dirty="0" err="1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Criptogràfica</a:t>
            </a:r>
            <a:endParaRPr lang="ca-ES" sz="2000" dirty="0">
              <a:solidFill>
                <a:srgbClr val="D80343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678959" y="6122352"/>
            <a:ext cx="15199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a-ES" sz="1600" b="1" dirty="0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Maig </a:t>
            </a:r>
            <a:r>
              <a:rPr lang="ca-ES" sz="1600" b="1" dirty="0" smtClean="0">
                <a:solidFill>
                  <a:srgbClr val="D80343"/>
                </a:solidFill>
                <a:latin typeface="Noto Sans" panose="020B0502040504020204" pitchFamily="34"/>
                <a:ea typeface="Calibri" panose="020F0502020204030204" pitchFamily="34" charset="0"/>
              </a:rPr>
              <a:t>de 2023</a:t>
            </a:r>
            <a:endParaRPr lang="ca-ES" sz="1600" b="1" dirty="0">
              <a:solidFill>
                <a:srgbClr val="D80343"/>
              </a:solidFill>
              <a:latin typeface="Noto Sans" panose="020B0502040504020204" pitchFamily="34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9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/>
          <p:cNvSpPr txBox="1"/>
          <p:nvPr/>
        </p:nvSpPr>
        <p:spPr>
          <a:xfrm>
            <a:off x="1575329" y="132347"/>
            <a:ext cx="1022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1-G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eneració del </a:t>
            </a:r>
            <a:r>
              <a:rPr lang="es-ES" sz="2800" dirty="0" err="1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justificant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de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Signatura 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No  </a:t>
            </a:r>
            <a:r>
              <a:rPr lang="es-ES" sz="2800" dirty="0" err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Criptogràfica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.</a:t>
            </a:r>
            <a:endParaRPr lang="ca-ES" sz="2800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45060" y="1333097"/>
            <a:ext cx="1047212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smtClean="0">
                <a:solidFill>
                  <a:srgbClr val="000000"/>
                </a:solidFill>
                <a:latin typeface="Calibri, serif"/>
              </a:rPr>
              <a:t>1- </a:t>
            </a:r>
            <a:r>
              <a:rPr lang="it-IT" b="1" i="1" dirty="0" smtClean="0"/>
              <a:t>Es genera </a:t>
            </a:r>
            <a:r>
              <a:rPr lang="it-IT" b="1" i="1" dirty="0"/>
              <a:t>el document XML que conté les evidències de signatura</a:t>
            </a:r>
            <a:endParaRPr lang="it-IT" b="1" i="1" dirty="0" smtClean="0"/>
          </a:p>
          <a:p>
            <a:endParaRPr lang="it-IT" b="1" i="1" dirty="0" smtClean="0">
              <a:solidFill>
                <a:srgbClr val="000000"/>
              </a:solidFill>
              <a:latin typeface="Noto Sans" panose="020B0502040504020204" pitchFamily="34"/>
            </a:endParaRPr>
          </a:p>
          <a:p>
            <a:r>
              <a:rPr lang="ca-ES" dirty="0"/>
              <a:t>Les evidències de signatura, a més de emmagatzemar-se a la base de dades de l’aplicació es plasmen dins un document XML. Aquest document contendrà</a:t>
            </a:r>
            <a:r>
              <a:rPr lang="ca-ES" dirty="0" smtClean="0"/>
              <a:t>:</a:t>
            </a:r>
            <a:endParaRPr lang="ca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Identificador de la transacció de signatura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Evidències </a:t>
            </a:r>
            <a:r>
              <a:rPr lang="ca-ES" dirty="0" smtClean="0"/>
              <a:t>l’autenticació </a:t>
            </a:r>
            <a:r>
              <a:rPr lang="ca-ES" dirty="0"/>
              <a:t>amb el proveïdor d’autenticació que </a:t>
            </a:r>
            <a:r>
              <a:rPr lang="ca-ES" dirty="0" smtClean="0"/>
              <a:t>ha fet l’usuari</a:t>
            </a:r>
            <a:r>
              <a:rPr lang="ca-ES" dirty="0"/>
              <a:t>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Data i hora de l’autenticació.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Nom i llinatges de l’interessat.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NIF/NIE de l’interessat.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Proveïdor d’identitat emprat i novell de seguretat de l’autenticació.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Resultat de l’autenticació.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ca-ES" dirty="0"/>
              <a:t>Resposta retornada i signada de la plataforma </a:t>
            </a:r>
            <a:r>
              <a:rPr lang="ca-ES" dirty="0" err="1">
                <a:hlinkClick r:id="rId4"/>
              </a:rPr>
              <a:t>cl@ve</a:t>
            </a:r>
            <a:r>
              <a:rPr lang="ca-ES" dirty="0"/>
              <a:t> o altre proveïdor d’autenticació.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Expressió de conformitat amb de fer la signatura.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Resum criptogràfic de les dades del document original en el cas que el document original no es pugui visualitzar com a PDF</a:t>
            </a:r>
            <a:r>
              <a:rPr lang="ca-ES" dirty="0" smtClean="0"/>
              <a:t>.</a:t>
            </a:r>
            <a:br>
              <a:rPr lang="ca-ES" dirty="0" smtClean="0"/>
            </a:br>
            <a:endParaRPr lang="ca-ES" dirty="0"/>
          </a:p>
          <a:p>
            <a:r>
              <a:rPr lang="ca-ES" dirty="0" smtClean="0"/>
              <a:t>En </a:t>
            </a:r>
            <a:r>
              <a:rPr lang="ca-ES" dirty="0"/>
              <a:t>aquest punt </a:t>
            </a:r>
            <a:r>
              <a:rPr lang="ca-ES" b="1" dirty="0"/>
              <a:t>EVIDENCIESIB</a:t>
            </a:r>
            <a:r>
              <a:rPr lang="ca-ES" dirty="0"/>
              <a:t> emmagatzemarà el document generat associant-ho a la transacció de signatura.</a:t>
            </a:r>
          </a:p>
          <a:p>
            <a:endParaRPr lang="es-ES" b="1" dirty="0">
              <a:solidFill>
                <a:srgbClr val="000000"/>
              </a:solidFill>
              <a:latin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66087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/>
          <p:cNvSpPr txBox="1"/>
          <p:nvPr/>
        </p:nvSpPr>
        <p:spPr>
          <a:xfrm>
            <a:off x="1575329" y="132347"/>
            <a:ext cx="1022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1-Generació 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del </a:t>
            </a:r>
            <a:r>
              <a:rPr lang="es-ES" sz="2800" dirty="0" err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justificant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de Signatura No  </a:t>
            </a:r>
            <a:r>
              <a:rPr lang="es-ES" sz="2800" dirty="0" err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Criptogràfica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.</a:t>
            </a:r>
          </a:p>
        </p:txBody>
      </p:sp>
      <p:sp>
        <p:nvSpPr>
          <p:cNvPr id="2" name="Rectángulo 1"/>
          <p:cNvSpPr/>
          <p:nvPr/>
        </p:nvSpPr>
        <p:spPr>
          <a:xfrm>
            <a:off x="845060" y="1333097"/>
            <a:ext cx="1047212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smtClean="0">
                <a:solidFill>
                  <a:srgbClr val="000000"/>
                </a:solidFill>
                <a:latin typeface="Calibri, serif"/>
              </a:rPr>
              <a:t>2- </a:t>
            </a:r>
            <a:r>
              <a:rPr lang="ca-ES" b="1" i="1" dirty="0"/>
              <a:t>Elaboració del Justificant de signatura no criptogràfica</a:t>
            </a:r>
          </a:p>
          <a:p>
            <a:endParaRPr lang="it-IT" b="1" i="1" dirty="0" smtClean="0">
              <a:solidFill>
                <a:srgbClr val="000000"/>
              </a:solidFill>
              <a:latin typeface="Noto Sans" panose="020B0502040504020204" pitchFamily="34"/>
            </a:endParaRPr>
          </a:p>
          <a:p>
            <a:r>
              <a:rPr lang="ca-ES" dirty="0"/>
              <a:t>El justificant de signatura és un document en format PDF que contendrà el </a:t>
            </a:r>
            <a:r>
              <a:rPr lang="ca-ES" b="1" dirty="0"/>
              <a:t>document original de manera visible</a:t>
            </a:r>
            <a:r>
              <a:rPr lang="ca-ES" dirty="0"/>
              <a:t> a més d’un recull de dades relacionades amb el procés de signatura. En cas que aquest no es pugui representar s’inclouria un </a:t>
            </a:r>
            <a:r>
              <a:rPr lang="ca-ES" dirty="0" err="1"/>
              <a:t>hash</a:t>
            </a:r>
            <a:r>
              <a:rPr lang="ca-ES" dirty="0"/>
              <a:t> del document original i s’inclourà l’original com annex al justificant.</a:t>
            </a:r>
          </a:p>
          <a:p>
            <a:endParaRPr lang="ca-ES" dirty="0" smtClean="0"/>
          </a:p>
          <a:p>
            <a:r>
              <a:rPr lang="es-ES" dirty="0" smtClean="0"/>
              <a:t>El </a:t>
            </a:r>
            <a:r>
              <a:rPr lang="es-ES" dirty="0" err="1"/>
              <a:t>justificant</a:t>
            </a:r>
            <a:r>
              <a:rPr lang="es-ES" dirty="0"/>
              <a:t> en </a:t>
            </a:r>
            <a:r>
              <a:rPr lang="es-ES" dirty="0" err="1"/>
              <a:t>format</a:t>
            </a:r>
            <a:r>
              <a:rPr lang="es-ES" dirty="0"/>
              <a:t> PDF </a:t>
            </a:r>
            <a:r>
              <a:rPr lang="ca-ES" dirty="0"/>
              <a:t>ha de mostrar</a:t>
            </a:r>
            <a:r>
              <a:rPr lang="ca-ES" dirty="0" smtClean="0"/>
              <a:t>:</a:t>
            </a:r>
            <a:endParaRPr lang="es-E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El contingut del document original. En cas que aquest no es pugui representar s’inclouria un </a:t>
            </a:r>
            <a:r>
              <a:rPr lang="ca-ES" dirty="0" err="1"/>
              <a:t>hash</a:t>
            </a:r>
            <a:r>
              <a:rPr lang="ca-ES" dirty="0"/>
              <a:t> del document original i s’inclourà l’original com annex al justificant.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Dades del signant (nom, llinatges i document d’identitat).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Identificador únic del document.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 smtClean="0"/>
              <a:t>Dades del firmant (nom i llinatges, </a:t>
            </a:r>
            <a:r>
              <a:rPr lang="ca-ES" dirty="0" err="1" smtClean="0"/>
              <a:t>nif</a:t>
            </a:r>
            <a:r>
              <a:rPr lang="ca-ES" dirty="0" smtClean="0"/>
              <a:t>,...).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 smtClean="0"/>
              <a:t>Incorpora </a:t>
            </a:r>
            <a:r>
              <a:rPr lang="ca-ES" dirty="0"/>
              <a:t>com a document adjunt </a:t>
            </a:r>
            <a:r>
              <a:rPr lang="ca-ES" dirty="0" err="1"/>
              <a:t>l’xml</a:t>
            </a:r>
            <a:r>
              <a:rPr lang="ca-ES" dirty="0"/>
              <a:t> amb </a:t>
            </a:r>
            <a:r>
              <a:rPr lang="ca-ES" dirty="0" smtClean="0"/>
              <a:t>les evidències de firma.</a:t>
            </a:r>
          </a:p>
          <a:p>
            <a:endParaRPr lang="ca-ES" dirty="0" smtClean="0"/>
          </a:p>
          <a:p>
            <a:endParaRPr lang="es-ES" b="1" dirty="0">
              <a:solidFill>
                <a:srgbClr val="000000"/>
              </a:solidFill>
              <a:latin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31897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/>
          <p:cNvSpPr txBox="1"/>
          <p:nvPr/>
        </p:nvSpPr>
        <p:spPr>
          <a:xfrm>
            <a:off x="1575329" y="132347"/>
            <a:ext cx="1022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1-Generació 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del </a:t>
            </a:r>
            <a:r>
              <a:rPr lang="es-ES" sz="2800" dirty="0" err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justificant</a:t>
            </a:r>
            <a:r>
              <a:rPr lang="es-ES" sz="2800" dirty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de Signatura No  </a:t>
            </a:r>
            <a:r>
              <a:rPr lang="es-ES" sz="2800" dirty="0" err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Criptogràfica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.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.</a:t>
            </a:r>
            <a:endParaRPr lang="ca-ES" sz="2800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45060" y="1333097"/>
            <a:ext cx="1047212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 smtClean="0">
                <a:solidFill>
                  <a:srgbClr val="000000"/>
                </a:solidFill>
                <a:latin typeface="Calibri, serif"/>
              </a:rPr>
              <a:t>2- </a:t>
            </a:r>
            <a:r>
              <a:rPr lang="ca-ES" b="1" i="1" dirty="0"/>
              <a:t>Elaboració del Justificant de signatura no criptogràfica</a:t>
            </a:r>
          </a:p>
          <a:p>
            <a:endParaRPr lang="it-IT" b="1" i="1" dirty="0" smtClean="0">
              <a:solidFill>
                <a:srgbClr val="000000"/>
              </a:solidFill>
              <a:latin typeface="Noto Sans" panose="020B0502040504020204" pitchFamily="34"/>
            </a:endParaRPr>
          </a:p>
          <a:p>
            <a:r>
              <a:rPr lang="ca-ES" dirty="0"/>
              <a:t>Una vegada conformat el document</a:t>
            </a:r>
            <a:r>
              <a:rPr lang="ca-ES" dirty="0" smtClean="0"/>
              <a:t>:</a:t>
            </a:r>
            <a:br>
              <a:rPr lang="ca-ES" dirty="0" smtClean="0"/>
            </a:br>
            <a:endParaRPr lang="ca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b="1" dirty="0" smtClean="0"/>
              <a:t>S’adjunta</a:t>
            </a:r>
            <a:r>
              <a:rPr lang="ca-ES" dirty="0" smtClean="0"/>
              <a:t> el document XML amb les evidències de firma com adjunt al justificant de firma PDF.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ca-E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smtClean="0"/>
              <a:t>Es </a:t>
            </a:r>
            <a:r>
              <a:rPr lang="ca-ES" b="1" dirty="0"/>
              <a:t>signarà</a:t>
            </a:r>
            <a:r>
              <a:rPr lang="ca-ES" dirty="0"/>
              <a:t> </a:t>
            </a:r>
            <a:r>
              <a:rPr lang="ca-ES" dirty="0" smtClean="0"/>
              <a:t> tot amb </a:t>
            </a:r>
            <a:r>
              <a:rPr lang="ca-ES" dirty="0"/>
              <a:t>una signatura de servidor i s’adjuntarà un segell de temps  utilitzant el servei proporcionat per </a:t>
            </a:r>
            <a:r>
              <a:rPr lang="ca-ES" dirty="0" smtClean="0"/>
              <a:t>PORTAFIB.</a:t>
            </a:r>
            <a:br>
              <a:rPr lang="ca-ES" dirty="0" smtClean="0"/>
            </a:br>
            <a:endParaRPr lang="ca-E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smtClean="0"/>
              <a:t>Es </a:t>
            </a:r>
            <a:r>
              <a:rPr lang="ca-ES" b="1" dirty="0" smtClean="0"/>
              <a:t>guarda</a:t>
            </a:r>
            <a:r>
              <a:rPr lang="ca-ES" dirty="0" smtClean="0"/>
              <a:t> de forma temporal una còpia d’aquest document al </a:t>
            </a:r>
            <a:r>
              <a:rPr lang="ca-ES" dirty="0"/>
              <a:t>sistema de fitxers de l’aplicació </a:t>
            </a:r>
            <a:r>
              <a:rPr lang="ca-ES" b="1" dirty="0"/>
              <a:t>EVIDENCIESIB</a:t>
            </a:r>
            <a:r>
              <a:rPr lang="ca-ES" dirty="0"/>
              <a:t>, ja que la responsabilitat d’emmagatzemar el document a l’arxiu electrònic serà o bé de </a:t>
            </a:r>
            <a:r>
              <a:rPr lang="ca-ES" b="1" dirty="0"/>
              <a:t>DISTRIBUCIO</a:t>
            </a:r>
            <a:r>
              <a:rPr lang="ca-ES" dirty="0"/>
              <a:t> quan els documents es presentin a </a:t>
            </a:r>
            <a:r>
              <a:rPr lang="ca-ES" b="1" dirty="0"/>
              <a:t>GOIB</a:t>
            </a:r>
            <a:r>
              <a:rPr lang="ca-ES" dirty="0"/>
              <a:t> a través de </a:t>
            </a:r>
            <a:r>
              <a:rPr lang="ca-ES" b="1" dirty="0"/>
              <a:t>REGISTRE</a:t>
            </a:r>
            <a:r>
              <a:rPr lang="ca-ES" dirty="0"/>
              <a:t> o bé de l’aplicació que gestioni l’expedient del que formaran part els documents signats amb aquest sistema.</a:t>
            </a:r>
            <a:endParaRPr lang="es-ES" b="1" dirty="0">
              <a:solidFill>
                <a:srgbClr val="000000"/>
              </a:solidFill>
              <a:latin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5352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/>
          <p:cNvSpPr txBox="1"/>
          <p:nvPr/>
        </p:nvSpPr>
        <p:spPr>
          <a:xfrm>
            <a:off x="1575329" y="132347"/>
            <a:ext cx="1022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2. Temes </a:t>
            </a:r>
            <a:r>
              <a:rPr lang="es-ES" sz="2800" dirty="0" err="1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pendents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de decidir.</a:t>
            </a:r>
            <a:endParaRPr lang="ca-ES" sz="2800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21310" y="1333097"/>
            <a:ext cx="10472123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dirty="0" smtClean="0"/>
              <a:t>Respecte a la generació del justificant:</a:t>
            </a:r>
          </a:p>
          <a:p>
            <a:endParaRPr lang="ca-E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 smtClean="0"/>
              <a:t>Decidir </a:t>
            </a:r>
            <a:r>
              <a:rPr lang="es-ES" dirty="0"/>
              <a:t>si </a:t>
            </a:r>
            <a:r>
              <a:rPr lang="es-ES" dirty="0" err="1"/>
              <a:t>hem</a:t>
            </a:r>
            <a:r>
              <a:rPr lang="es-ES" dirty="0"/>
              <a:t> </a:t>
            </a:r>
            <a:r>
              <a:rPr lang="es-ES" dirty="0" err="1"/>
              <a:t>d'incloure</a:t>
            </a:r>
            <a:r>
              <a:rPr lang="es-ES" dirty="0"/>
              <a:t> una </a:t>
            </a:r>
            <a:r>
              <a:rPr lang="es-ES" dirty="0" err="1"/>
              <a:t>adreça</a:t>
            </a:r>
            <a:r>
              <a:rPr lang="es-ES" dirty="0"/>
              <a:t> de </a:t>
            </a:r>
            <a:r>
              <a:rPr lang="es-ES" dirty="0" err="1"/>
              <a:t>verificació</a:t>
            </a:r>
            <a:r>
              <a:rPr lang="es-ES" dirty="0"/>
              <a:t> en el </a:t>
            </a:r>
            <a:r>
              <a:rPr lang="es-ES" dirty="0" err="1"/>
              <a:t>justificant</a:t>
            </a:r>
            <a:r>
              <a:rPr lang="es-ES" dirty="0"/>
              <a:t> de signatura no </a:t>
            </a:r>
            <a:r>
              <a:rPr lang="es-ES" dirty="0" err="1"/>
              <a:t>criptogràfica</a:t>
            </a:r>
            <a:r>
              <a:rPr lang="es-ES" dirty="0"/>
              <a:t> (a priori </a:t>
            </a:r>
            <a:r>
              <a:rPr lang="es-ES" dirty="0" err="1"/>
              <a:t>pareix</a:t>
            </a:r>
            <a:r>
              <a:rPr lang="es-ES" dirty="0"/>
              <a:t> que llevar-</a:t>
            </a:r>
            <a:r>
              <a:rPr lang="es-ES" dirty="0" err="1"/>
              <a:t>ho</a:t>
            </a:r>
            <a:r>
              <a:rPr lang="es-ES" dirty="0"/>
              <a:t> simplifica les coses)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 smtClean="0"/>
              <a:t>Eliminar </a:t>
            </a:r>
            <a:r>
              <a:rPr lang="es-ES" dirty="0"/>
              <a:t>de la </a:t>
            </a:r>
            <a:r>
              <a:rPr lang="es-ES" dirty="0" err="1"/>
              <a:t>Resolució</a:t>
            </a:r>
            <a:r>
              <a:rPr lang="es-ES" dirty="0"/>
              <a:t> les </a:t>
            </a:r>
            <a:r>
              <a:rPr lang="es-ES" dirty="0" err="1"/>
              <a:t>referència</a:t>
            </a:r>
            <a:r>
              <a:rPr lang="es-ES" dirty="0"/>
              <a:t> a un CSV que </a:t>
            </a:r>
            <a:r>
              <a:rPr lang="es-ES" dirty="0" err="1"/>
              <a:t>identifiqui</a:t>
            </a:r>
            <a:r>
              <a:rPr lang="es-ES" dirty="0"/>
              <a:t> el </a:t>
            </a:r>
            <a:r>
              <a:rPr lang="es-ES" dirty="0" err="1"/>
              <a:t>document</a:t>
            </a:r>
            <a:r>
              <a:rPr lang="es-ES" dirty="0"/>
              <a:t> </a:t>
            </a:r>
            <a:r>
              <a:rPr lang="es-ES" dirty="0" err="1"/>
              <a:t>dins</a:t>
            </a:r>
            <a:r>
              <a:rPr lang="es-ES" dirty="0"/>
              <a:t> </a:t>
            </a:r>
            <a:r>
              <a:rPr lang="es-ES" dirty="0" err="1"/>
              <a:t>l'Arxiu</a:t>
            </a:r>
            <a:r>
              <a:rPr lang="es-ES" dirty="0"/>
              <a:t>, ja que en el </a:t>
            </a:r>
            <a:r>
              <a:rPr lang="es-ES" dirty="0" err="1"/>
              <a:t>moment</a:t>
            </a:r>
            <a:r>
              <a:rPr lang="es-ES" dirty="0"/>
              <a:t> de la signatura no </a:t>
            </a:r>
            <a:r>
              <a:rPr lang="es-ES" dirty="0" err="1"/>
              <a:t>disposam</a:t>
            </a:r>
            <a:r>
              <a:rPr lang="es-ES" dirty="0"/>
              <a:t> </a:t>
            </a:r>
            <a:r>
              <a:rPr lang="es-ES" dirty="0" err="1"/>
              <a:t>d'aquesta</a:t>
            </a:r>
            <a:r>
              <a:rPr lang="es-ES" dirty="0"/>
              <a:t> </a:t>
            </a:r>
            <a:r>
              <a:rPr lang="es-ES" dirty="0" err="1"/>
              <a:t>referència</a:t>
            </a:r>
            <a:r>
              <a:rPr lang="es-ES" dirty="0"/>
              <a:t>, ni el </a:t>
            </a:r>
            <a:r>
              <a:rPr lang="es-ES" dirty="0" err="1"/>
              <a:t>document</a:t>
            </a:r>
            <a:r>
              <a:rPr lang="es-ES" dirty="0"/>
              <a:t> es </a:t>
            </a:r>
            <a:r>
              <a:rPr lang="es-ES" dirty="0" err="1"/>
              <a:t>pot</a:t>
            </a:r>
            <a:r>
              <a:rPr lang="es-ES" dirty="0"/>
              <a:t> considerar </a:t>
            </a:r>
            <a:r>
              <a:rPr lang="es-ES" dirty="0" err="1"/>
              <a:t>com</a:t>
            </a:r>
            <a:r>
              <a:rPr lang="es-ES" dirty="0"/>
              <a:t> un </a:t>
            </a:r>
            <a:r>
              <a:rPr lang="es-ES" dirty="0" err="1"/>
              <a:t>document</a:t>
            </a:r>
            <a:r>
              <a:rPr lang="es-ES" dirty="0"/>
              <a:t> </a:t>
            </a:r>
            <a:r>
              <a:rPr lang="es-ES" dirty="0" err="1"/>
              <a:t>electrònic</a:t>
            </a:r>
            <a:r>
              <a:rPr lang="es-ES" dirty="0"/>
              <a:t> per </a:t>
            </a:r>
            <a:r>
              <a:rPr lang="es-ES" dirty="0" err="1"/>
              <a:t>qüestions</a:t>
            </a:r>
            <a:r>
              <a:rPr lang="es-ES" dirty="0"/>
              <a:t> de </a:t>
            </a:r>
            <a:r>
              <a:rPr lang="es-ES" dirty="0" err="1"/>
              <a:t>metadatat</a:t>
            </a:r>
            <a:r>
              <a:rPr lang="es-ES" dirty="0"/>
              <a:t>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 smtClean="0"/>
              <a:t>Decidir </a:t>
            </a:r>
            <a:r>
              <a:rPr lang="es-ES" dirty="0"/>
              <a:t>si </a:t>
            </a:r>
            <a:r>
              <a:rPr lang="es-ES" dirty="0" err="1"/>
              <a:t>eliminam</a:t>
            </a:r>
            <a:r>
              <a:rPr lang="es-ES" dirty="0"/>
              <a:t> o </a:t>
            </a:r>
            <a:r>
              <a:rPr lang="es-ES" dirty="0" err="1"/>
              <a:t>matenim</a:t>
            </a:r>
            <a:r>
              <a:rPr lang="es-ES" dirty="0"/>
              <a:t> la </a:t>
            </a:r>
            <a:r>
              <a:rPr lang="es-ES" dirty="0" err="1"/>
              <a:t>vinculació</a:t>
            </a:r>
            <a:r>
              <a:rPr lang="es-ES" dirty="0"/>
              <a:t> entre el </a:t>
            </a:r>
            <a:r>
              <a:rPr lang="es-ES" dirty="0" err="1"/>
              <a:t>nivell</a:t>
            </a:r>
            <a:r>
              <a:rPr lang="es-ES" dirty="0"/>
              <a:t> de QAA de la primera </a:t>
            </a:r>
            <a:r>
              <a:rPr lang="es-ES" dirty="0" err="1"/>
              <a:t>autenticació</a:t>
            </a:r>
            <a:r>
              <a:rPr lang="es-ES" dirty="0"/>
              <a:t> i la que es </a:t>
            </a:r>
            <a:r>
              <a:rPr lang="es-ES" dirty="0" err="1"/>
              <a:t>produeix</a:t>
            </a:r>
            <a:r>
              <a:rPr lang="es-ES" dirty="0"/>
              <a:t> </a:t>
            </a:r>
            <a:r>
              <a:rPr lang="es-ES" dirty="0" err="1"/>
              <a:t>just</a:t>
            </a:r>
            <a:r>
              <a:rPr lang="es-ES" dirty="0"/>
              <a:t> </a:t>
            </a:r>
            <a:r>
              <a:rPr lang="es-ES" dirty="0" err="1"/>
              <a:t>abans</a:t>
            </a:r>
            <a:r>
              <a:rPr lang="es-ES" dirty="0"/>
              <a:t> de la firma no </a:t>
            </a:r>
            <a:r>
              <a:rPr lang="es-ES" dirty="0" err="1"/>
              <a:t>criptogràfica</a:t>
            </a:r>
            <a:endParaRPr lang="es-E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 smtClean="0"/>
              <a:t>Revisar </a:t>
            </a:r>
            <a:r>
              <a:rPr lang="es-ES" dirty="0"/>
              <a:t>les evidencies que conformaran el </a:t>
            </a:r>
            <a:r>
              <a:rPr lang="es-ES" dirty="0" err="1"/>
              <a:t>document</a:t>
            </a:r>
            <a:r>
              <a:rPr lang="es-ES" dirty="0"/>
              <a:t> XML, en especial la referida a la hash del </a:t>
            </a:r>
            <a:r>
              <a:rPr lang="es-ES" dirty="0" err="1"/>
              <a:t>document</a:t>
            </a:r>
            <a:r>
              <a:rPr lang="es-ES" dirty="0"/>
              <a:t> original</a:t>
            </a:r>
            <a:r>
              <a:rPr lang="es-ES" dirty="0" smtClean="0"/>
              <a:t>.</a:t>
            </a:r>
          </a:p>
          <a:p>
            <a:pPr lvl="1"/>
            <a:endParaRPr lang="ca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srgbClr val="000000"/>
              </a:solidFill>
              <a:latin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05376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/>
          <p:cNvSpPr txBox="1"/>
          <p:nvPr/>
        </p:nvSpPr>
        <p:spPr>
          <a:xfrm>
            <a:off x="1575329" y="132347"/>
            <a:ext cx="10228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2. Temes </a:t>
            </a:r>
            <a:r>
              <a:rPr lang="es-ES" sz="2800" dirty="0" err="1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pendents</a:t>
            </a:r>
            <a:r>
              <a:rPr lang="es-ES" sz="2800" dirty="0" smtClean="0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de decidir.</a:t>
            </a:r>
            <a:endParaRPr lang="ca-ES" sz="2800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21310" y="1333097"/>
            <a:ext cx="104721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a-ES" dirty="0" smtClean="0"/>
              <a:t>Respecte a les metadades addicionals:</a:t>
            </a:r>
          </a:p>
          <a:p>
            <a:endParaRPr lang="ca-E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smtClean="0"/>
              <a:t>Nova </a:t>
            </a:r>
            <a:r>
              <a:rPr lang="ca-ES" dirty="0"/>
              <a:t>metadada per al nom complet o raó social del signatari (</a:t>
            </a:r>
            <a:r>
              <a:rPr lang="ca-ES" dirty="0" err="1"/>
              <a:t>eEMGDE</a:t>
            </a:r>
            <a:r>
              <a:rPr lang="ca-ES" dirty="0"/>
              <a:t> 17.5.1</a:t>
            </a:r>
            <a:r>
              <a:rPr lang="ca-ES" dirty="0" smtClean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smtClean="0"/>
              <a:t>Nova </a:t>
            </a:r>
            <a:r>
              <a:rPr lang="ca-ES" dirty="0"/>
              <a:t>metadada per a l'identificador del signatari (NIF,...) (</a:t>
            </a:r>
            <a:r>
              <a:rPr lang="ca-ES" dirty="0" err="1"/>
              <a:t>eEMGDE</a:t>
            </a:r>
            <a:r>
              <a:rPr lang="ca-ES" dirty="0"/>
              <a:t> 17.5.2</a:t>
            </a:r>
            <a:r>
              <a:rPr lang="ca-ES" dirty="0" smtClean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smtClean="0"/>
              <a:t>No es vol </a:t>
            </a:r>
            <a:r>
              <a:rPr lang="ca-ES" dirty="0"/>
              <a:t>ampliar el conjunt de valors de la metadada "format de </a:t>
            </a:r>
            <a:r>
              <a:rPr lang="ca-ES" dirty="0" smtClean="0"/>
              <a:t>signatura”. Com </a:t>
            </a:r>
            <a:r>
              <a:rPr lang="ca-ES" dirty="0"/>
              <a:t>a contraproposta </a:t>
            </a:r>
            <a:r>
              <a:rPr lang="ca-ES" dirty="0" smtClean="0"/>
              <a:t>es proposa definir </a:t>
            </a:r>
            <a:r>
              <a:rPr lang="ca-ES" dirty="0"/>
              <a:t>una nova metadada que ve recollida a l'esquema (</a:t>
            </a:r>
            <a:r>
              <a:rPr lang="ca-ES" dirty="0" err="1"/>
              <a:t>eEMGDE</a:t>
            </a:r>
            <a:r>
              <a:rPr lang="ca-ES" dirty="0"/>
              <a:t> 17.5.4. </a:t>
            </a:r>
            <a:r>
              <a:rPr lang="ca-ES" dirty="0" err="1"/>
              <a:t>Nivel</a:t>
            </a:r>
            <a:r>
              <a:rPr lang="ca-ES" dirty="0"/>
              <a:t> de firma) pensat per establir els diferents tipus d'identificació/signatura </a:t>
            </a:r>
            <a:r>
              <a:rPr lang="ca-ES" dirty="0" smtClean="0"/>
              <a:t>que </a:t>
            </a:r>
            <a:r>
              <a:rPr lang="ca-ES" dirty="0"/>
              <a:t>de moment seria suficient amb tenir com a esquema de valors "Signatura no </a:t>
            </a:r>
            <a:r>
              <a:rPr lang="ca-ES" dirty="0" err="1"/>
              <a:t>ceiptogràfica</a:t>
            </a:r>
            <a:r>
              <a:rPr lang="ca-ES" dirty="0"/>
              <a:t>", tot i que es podria aprofitar per recollir les altres opcions que ja contempla la normativa (Signatura electrònica basada en certificats, Segell electrònic basat en certificats, Signatura no </a:t>
            </a:r>
            <a:r>
              <a:rPr lang="ca-ES" dirty="0" smtClean="0"/>
              <a:t>criptogràfica).</a:t>
            </a:r>
            <a:r>
              <a:rPr lang="ca-ES" dirty="0"/>
              <a:t/>
            </a:r>
            <a:br>
              <a:rPr lang="ca-ES" dirty="0"/>
            </a:br>
            <a:endParaRPr lang="ca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srgbClr val="000000"/>
              </a:solidFill>
              <a:latin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81508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4420</TotalTime>
  <Words>717</Words>
  <Application>Microsoft Office PowerPoint</Application>
  <PresentationFormat>Panorámica</PresentationFormat>
  <Paragraphs>55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Calibri, serif</vt:lpstr>
      <vt:lpstr>Courier New</vt:lpstr>
      <vt:lpstr>Noto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Trobat</dc:creator>
  <cp:lastModifiedBy>Antonio Trobat</cp:lastModifiedBy>
  <cp:revision>55</cp:revision>
  <dcterms:created xsi:type="dcterms:W3CDTF">2023-02-02T08:00:18Z</dcterms:created>
  <dcterms:modified xsi:type="dcterms:W3CDTF">2023-05-19T10:32:57Z</dcterms:modified>
</cp:coreProperties>
</file>